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uEnftC8lEXEwLpnJY7exlyGGs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5183188" y="987425"/>
            <a:ext cx="6172200" cy="4873625"/>
          </a:xfrm>
          <a:prstGeom prst="rect">
            <a:avLst/>
          </a:prstGeom>
          <a:noFill/>
          <a:ln>
            <a:noFill/>
          </a:ln>
        </p:spPr>
      </p:sp>
      <p:sp>
        <p:nvSpPr>
          <p:cNvPr id="64" name="Google Shape;64;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9.png"/><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3152775" y="1075913"/>
            <a:ext cx="9144000" cy="23877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Job data analysis</a:t>
            </a:r>
            <a:endParaRPr/>
          </a:p>
        </p:txBody>
      </p:sp>
      <p:sp>
        <p:nvSpPr>
          <p:cNvPr id="85" name="Google Shape;85;p1"/>
          <p:cNvSpPr txBox="1"/>
          <p:nvPr>
            <p:ph idx="1" type="subTitle"/>
          </p:nvPr>
        </p:nvSpPr>
        <p:spPr>
          <a:xfrm>
            <a:off x="3152775" y="52022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By: Anvi Agarwal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Project Overview: Operational Analytics for Job and User Data Analysis</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This project involves two case studies designed to simulate the role of a </a:t>
            </a:r>
            <a:r>
              <a:rPr b="1" lang="en-US"/>
              <a:t>Lead Data Analyst</a:t>
            </a:r>
            <a:r>
              <a:rPr lang="en-US"/>
              <a:t> focusing on operational analytics. The aim is to uncover valuable insights that help a company improve its operations by analyzing data for trends, anomalies, and metric spikes using SQL.</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Case Study 1: Job Data Analysis</a:t>
            </a:r>
            <a:endParaRPr/>
          </a:p>
        </p:txBody>
      </p:sp>
      <p:sp>
        <p:nvSpPr>
          <p:cNvPr id="97" name="Google Shape;97;p3"/>
          <p:cNvSpPr/>
          <p:nvPr/>
        </p:nvSpPr>
        <p:spPr>
          <a:xfrm>
            <a:off x="181154" y="1346200"/>
            <a:ext cx="12010846" cy="452431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Purpose:</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To analyze the performance and behavior of job reviews over time using the job_data table. This table includes detailed information such as job IDs, reviewer (actor) IDs, event types, time spent, and job language.</a:t>
            </a:r>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Planned Approach:</a:t>
            </a:r>
            <a:endParaRPr b="0" i="0" sz="1800" u="none" cap="none" strike="noStrik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Jobs Reviewed Over Time:</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Use SQL queries to calculate the number of jobs reviewed per hour for each day in </a:t>
            </a:r>
            <a:r>
              <a:rPr b="1" i="0" lang="en-US" sz="1800" u="none" cap="none" strike="noStrike">
                <a:solidFill>
                  <a:schemeClr val="dk1"/>
                </a:solidFill>
                <a:latin typeface="Arial"/>
                <a:ea typeface="Arial"/>
                <a:cs typeface="Arial"/>
                <a:sym typeface="Arial"/>
              </a:rPr>
              <a:t>November 2020</a:t>
            </a:r>
            <a:r>
              <a:rPr b="0" i="0" lang="en-US" sz="1800" u="none" cap="none" strike="noStrike">
                <a:solidFill>
                  <a:schemeClr val="dk1"/>
                </a:solidFill>
                <a:latin typeface="Arial"/>
                <a:ea typeface="Arial"/>
                <a:cs typeface="Arial"/>
                <a:sym typeface="Arial"/>
              </a:rPr>
              <a:t>, enabling us to identify peak and low-activity hours.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Throughput Analysis:</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Calculate a </a:t>
            </a:r>
            <a:r>
              <a:rPr b="1" i="0" lang="en-US" sz="1800" u="none" cap="none" strike="noStrike">
                <a:solidFill>
                  <a:schemeClr val="dk1"/>
                </a:solidFill>
                <a:latin typeface="Arial"/>
                <a:ea typeface="Arial"/>
                <a:cs typeface="Arial"/>
                <a:sym typeface="Arial"/>
              </a:rPr>
              <a:t>7-day rolling average</a:t>
            </a:r>
            <a:r>
              <a:rPr b="0" i="0" lang="en-US" sz="1800" u="none" cap="none" strike="noStrike">
                <a:solidFill>
                  <a:schemeClr val="dk1"/>
                </a:solidFill>
                <a:latin typeface="Arial"/>
                <a:ea typeface="Arial"/>
                <a:cs typeface="Arial"/>
                <a:sym typeface="Arial"/>
              </a:rPr>
              <a:t> of events per second, and compare it with daily metrics to determine which method better reflects job handling efficiency.</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Language Share Analysis:</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Determine the </a:t>
            </a:r>
            <a:r>
              <a:rPr b="1" i="0" lang="en-US" sz="1800" u="none" cap="none" strike="noStrike">
                <a:solidFill>
                  <a:schemeClr val="dk1"/>
                </a:solidFill>
                <a:latin typeface="Arial"/>
                <a:ea typeface="Arial"/>
                <a:cs typeface="Arial"/>
                <a:sym typeface="Arial"/>
              </a:rPr>
              <a:t>language distribution</a:t>
            </a:r>
            <a:r>
              <a:rPr b="0" i="0" lang="en-US" sz="1800" u="none" cap="none" strike="noStrike">
                <a:solidFill>
                  <a:schemeClr val="dk1"/>
                </a:solidFill>
                <a:latin typeface="Arial"/>
                <a:ea typeface="Arial"/>
                <a:cs typeface="Arial"/>
                <a:sym typeface="Arial"/>
              </a:rPr>
              <a:t> of job content over the last 30 days to see trends or shifts in content language preferences.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Duplicate Rows Detection:</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Identify and display duplicate entries in the job_data table that might affect data integrity and result accuracy.</a:t>
            </a:r>
            <a:endParaRPr/>
          </a:p>
          <a:p>
            <a:pPr indent="0" lvl="0" marL="0" marR="0" rtl="0" algn="l">
              <a:lnSpc>
                <a:spcPct val="100000"/>
              </a:lnSpc>
              <a:spcBef>
                <a:spcPts val="0"/>
              </a:spcBef>
              <a:spcAft>
                <a:spcPts val="0"/>
              </a:spcAft>
              <a:buClr>
                <a:schemeClr val="dk1"/>
              </a:buClr>
              <a:buSzPts val="1800"/>
              <a:buFont typeface="Calibri"/>
              <a:buNone/>
            </a:pPr>
            <a:r>
              <a:t/>
            </a:r>
            <a:endParaRPr b="0" i="0" sz="1800" u="sng"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b="1" lang="en-US">
                <a:latin typeface="Arial"/>
                <a:ea typeface="Arial"/>
                <a:cs typeface="Arial"/>
                <a:sym typeface="Arial"/>
              </a:rPr>
              <a:t>Case Study 2: Investigating Metric Spikes</a:t>
            </a:r>
            <a:br>
              <a:rPr b="1" lang="en-US">
                <a:latin typeface="Arial"/>
                <a:ea typeface="Arial"/>
                <a:cs typeface="Arial"/>
                <a:sym typeface="Arial"/>
              </a:rPr>
            </a:br>
            <a:r>
              <a:rPr b="1" i="0" lang="en-US" sz="4000" u="none" cap="none" strike="noStrike">
                <a:solidFill>
                  <a:schemeClr val="dk1"/>
                </a:solidFill>
                <a:latin typeface="Arial"/>
                <a:ea typeface="Arial"/>
                <a:cs typeface="Arial"/>
                <a:sym typeface="Arial"/>
              </a:rPr>
              <a:t>Purpose:</a:t>
            </a:r>
            <a:br>
              <a:rPr b="0" i="0" lang="en-US" sz="8800" u="none" cap="none" strike="noStrike">
                <a:solidFill>
                  <a:schemeClr val="dk1"/>
                </a:solidFill>
                <a:latin typeface="Arial"/>
                <a:ea typeface="Arial"/>
                <a:cs typeface="Arial"/>
                <a:sym typeface="Arial"/>
              </a:rPr>
            </a:br>
            <a:endParaRPr/>
          </a:p>
        </p:txBody>
      </p:sp>
      <p:sp>
        <p:nvSpPr>
          <p:cNvPr id="103" name="Google Shape;103;p4"/>
          <p:cNvSpPr/>
          <p:nvPr/>
        </p:nvSpPr>
        <p:spPr>
          <a:xfrm>
            <a:off x="145143" y="1897434"/>
            <a:ext cx="12046857" cy="452431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To explore the causes behind sudden changes in key business metrics using three tables: users, events, and email-events. This case simulates a real-world challenge of understanding metric spikes through user activity.</a:t>
            </a:r>
            <a:endParaRPr/>
          </a:p>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Planned Approach:</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Weekly User Engagement:</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Measure how actively users engage with the product weekly </a:t>
            </a:r>
            <a:r>
              <a:rPr b="1" i="0" lang="en-US" sz="1800" u="none" cap="none" strike="noStrike">
                <a:solidFill>
                  <a:schemeClr val="dk1"/>
                </a:solidFill>
                <a:latin typeface="Arial"/>
                <a:ea typeface="Arial"/>
                <a:cs typeface="Arial"/>
                <a:sym typeface="Arial"/>
              </a:rPr>
              <a:t>using the events table.</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User Growth Analysis:</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Analyze the trend of new users signing up over time using the users table.</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Weekly Retention Analysis:</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Measure how many users remain active after signing up, by calculating </a:t>
            </a:r>
            <a:r>
              <a:rPr b="1" i="0" lang="en-US" sz="1800" u="none" cap="none" strike="noStrike">
                <a:solidFill>
                  <a:schemeClr val="dk1"/>
                </a:solidFill>
                <a:latin typeface="Arial"/>
                <a:ea typeface="Arial"/>
                <a:cs typeface="Arial"/>
                <a:sym typeface="Arial"/>
              </a:rPr>
              <a:t>weekly retention rates</a:t>
            </a:r>
            <a:r>
              <a:rPr b="0" i="0" lang="en-US" sz="1800" u="none" cap="none" strike="noStrike">
                <a:solidFill>
                  <a:schemeClr val="dk1"/>
                </a:solidFill>
                <a:latin typeface="Arial"/>
                <a:ea typeface="Arial"/>
                <a:cs typeface="Arial"/>
                <a:sym typeface="Arial"/>
              </a:rPr>
              <a:t> based on sign-up cohorts.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Engagement Per Device:</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Assess user activity across different devices to understand usage patterns and optimize cross-platform experiences.</a:t>
            </a:r>
            <a:endParaRPr/>
          </a:p>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Email Engagement:</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Use the email_events table to analyze open rates, click-throughs, and overall engagement with email communications.</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Software used</a:t>
            </a:r>
            <a:endParaRPr/>
          </a:p>
        </p:txBody>
      </p:sp>
      <p:sp>
        <p:nvSpPr>
          <p:cNvPr id="109" name="Google Shape;109;p5"/>
          <p:cNvSpPr txBox="1"/>
          <p:nvPr>
            <p:ph idx="1" type="body"/>
          </p:nvPr>
        </p:nvSpPr>
        <p:spPr>
          <a:xfrm>
            <a:off x="685801" y="1842559"/>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lang="en-US"/>
              <a:t> </a:t>
            </a:r>
            <a:r>
              <a:rPr b="1" lang="en-US"/>
              <a:t>MySQL Workbench (Version 8.0)</a:t>
            </a:r>
            <a:br>
              <a:rPr lang="en-US"/>
            </a:br>
            <a:r>
              <a:rPr lang="en-US"/>
              <a:t>MySQL Workbench was used for executing SQL queries, managing the database, and analyzing user activity data. I chose this tool because it provides a user-friendly interface for writing and testing queries, supports complex data manipulation, and is well-suited for handling structured data efficiently.</a:t>
            </a:r>
            <a:endParaRPr b="1"/>
          </a:p>
          <a:p>
            <a:pPr indent="-228600" lvl="0" marL="228600" rtl="0" algn="l">
              <a:lnSpc>
                <a:spcPct val="90000"/>
              </a:lnSpc>
              <a:spcBef>
                <a:spcPts val="1000"/>
              </a:spcBef>
              <a:spcAft>
                <a:spcPts val="0"/>
              </a:spcAft>
              <a:buClr>
                <a:schemeClr val="dk1"/>
              </a:buClr>
              <a:buSzPct val="100000"/>
              <a:buChar char="•"/>
            </a:pPr>
            <a:r>
              <a:rPr lang="en-US"/>
              <a:t> </a:t>
            </a:r>
            <a:r>
              <a:rPr b="1" lang="en-US"/>
              <a:t>Microsoft Excel (2019)</a:t>
            </a:r>
            <a:br>
              <a:rPr b="1" lang="en-US"/>
            </a:br>
            <a:r>
              <a:rPr lang="en-US"/>
              <a:t>I used Excel for initial data cleaning, organizing, and performing basic exploratory analysis. Its simplicity, flexibility, and visualization features made it ideal for quick summaries, creating charts, and preparing the data before deeper analysis.</a:t>
            </a:r>
            <a:endParaRPr/>
          </a:p>
          <a:p>
            <a:pPr indent="-228600" lvl="0" marL="228600" rtl="0" algn="l">
              <a:lnSpc>
                <a:spcPct val="90000"/>
              </a:lnSpc>
              <a:spcBef>
                <a:spcPts val="1000"/>
              </a:spcBef>
              <a:spcAft>
                <a:spcPts val="0"/>
              </a:spcAft>
              <a:buClr>
                <a:schemeClr val="dk1"/>
              </a:buClr>
              <a:buSzPct val="100000"/>
              <a:buChar char="•"/>
            </a:pPr>
            <a:r>
              <a:rPr b="1" lang="en-US"/>
              <a:t>Tableau Public desktop</a:t>
            </a:r>
            <a:endParaRPr/>
          </a:p>
          <a:p>
            <a:pPr indent="0" lvl="0" marL="0" rtl="0" algn="l">
              <a:lnSpc>
                <a:spcPct val="90000"/>
              </a:lnSpc>
              <a:spcBef>
                <a:spcPts val="1000"/>
              </a:spcBef>
              <a:spcAft>
                <a:spcPts val="0"/>
              </a:spcAft>
              <a:buClr>
                <a:schemeClr val="dk1"/>
              </a:buClr>
              <a:buSzPct val="100000"/>
              <a:buNone/>
            </a:pPr>
            <a:r>
              <a:rPr lang="en-US"/>
              <a:t> I used tableau public for better data visualization and better data analysis</a:t>
            </a:r>
            <a:br>
              <a:rPr lang="en-US"/>
            </a:b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Case study 1 </a:t>
            </a:r>
            <a:endParaRPr/>
          </a:p>
        </p:txBody>
      </p:sp>
      <p:sp>
        <p:nvSpPr>
          <p:cNvPr id="115" name="Google Shape;115;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1159933" y="855133"/>
            <a:ext cx="9931400" cy="9313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t>Number of jobs reviewed per hour for each day in November 2020</a:t>
            </a:r>
            <a:endParaRPr/>
          </a:p>
        </p:txBody>
      </p:sp>
      <p:sp>
        <p:nvSpPr>
          <p:cNvPr id="121" name="Google Shape;121;p7"/>
          <p:cNvSpPr txBox="1"/>
          <p:nvPr>
            <p:ph idx="1" type="body"/>
          </p:nvPr>
        </p:nvSpPr>
        <p:spPr>
          <a:xfrm>
            <a:off x="465667" y="1405467"/>
            <a:ext cx="10888133" cy="477149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22" name="Google Shape;122;p7"/>
          <p:cNvPicPr preferRelativeResize="0"/>
          <p:nvPr/>
        </p:nvPicPr>
        <p:blipFill rotWithShape="1">
          <a:blip r:embed="rId3">
            <a:alphaModFix/>
          </a:blip>
          <a:srcRect b="0" l="0" r="0" t="0"/>
          <a:stretch/>
        </p:blipFill>
        <p:spPr>
          <a:xfrm>
            <a:off x="465666" y="1405467"/>
            <a:ext cx="5993131" cy="2311400"/>
          </a:xfrm>
          <a:prstGeom prst="rect">
            <a:avLst/>
          </a:prstGeom>
          <a:noFill/>
          <a:ln>
            <a:noFill/>
          </a:ln>
        </p:spPr>
      </p:pic>
      <p:sp>
        <p:nvSpPr>
          <p:cNvPr id="123" name="Google Shape;123;p7"/>
          <p:cNvSpPr/>
          <p:nvPr/>
        </p:nvSpPr>
        <p:spPr>
          <a:xfrm>
            <a:off x="6841066" y="2895600"/>
            <a:ext cx="4885267" cy="3022600"/>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C0C0C"/>
                </a:solidFill>
                <a:latin typeface="Calibri"/>
                <a:ea typeface="Calibri"/>
                <a:cs typeface="Calibri"/>
                <a:sym typeface="Calibri"/>
              </a:rPr>
              <a:t>Job review activity was consistently low from Nov 25–30, 2020, with only 1–2 jobs reviewed per day, averaging 0.04–0.08 jobs/hour. Slight increases on Nov 28 and 30 may suggest end-of-month catch-up. Overall, the workload appears minimal and stable, indicating a need to assess job volume or analyst efficiency.</a:t>
            </a:r>
            <a:endParaRPr/>
          </a:p>
        </p:txBody>
      </p:sp>
      <p:pic>
        <p:nvPicPr>
          <p:cNvPr id="124" name="Google Shape;124;p7"/>
          <p:cNvPicPr preferRelativeResize="0"/>
          <p:nvPr/>
        </p:nvPicPr>
        <p:blipFill rotWithShape="1">
          <a:blip r:embed="rId4">
            <a:alphaModFix/>
          </a:blip>
          <a:srcRect b="0" l="0" r="0" t="0"/>
          <a:stretch/>
        </p:blipFill>
        <p:spPr>
          <a:xfrm>
            <a:off x="266206" y="4588933"/>
            <a:ext cx="6126128" cy="158803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7 day and 1 day rolling average (no. of events per sec)</a:t>
            </a:r>
            <a:endParaRPr/>
          </a:p>
        </p:txBody>
      </p:sp>
      <p:sp>
        <p:nvSpPr>
          <p:cNvPr id="130" name="Google Shape;13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31" name="Google Shape;131;p8"/>
          <p:cNvPicPr preferRelativeResize="0"/>
          <p:nvPr/>
        </p:nvPicPr>
        <p:blipFill rotWithShape="1">
          <a:blip r:embed="rId3">
            <a:alphaModFix/>
          </a:blip>
          <a:srcRect b="0" l="0" r="0" t="0"/>
          <a:stretch/>
        </p:blipFill>
        <p:spPr>
          <a:xfrm>
            <a:off x="415591" y="1825626"/>
            <a:ext cx="2889201" cy="1856410"/>
          </a:xfrm>
          <a:prstGeom prst="rect">
            <a:avLst/>
          </a:prstGeom>
          <a:noFill/>
          <a:ln>
            <a:noFill/>
          </a:ln>
        </p:spPr>
      </p:pic>
      <p:pic>
        <p:nvPicPr>
          <p:cNvPr id="132" name="Google Shape;132;p8"/>
          <p:cNvPicPr preferRelativeResize="0"/>
          <p:nvPr/>
        </p:nvPicPr>
        <p:blipFill rotWithShape="1">
          <a:blip r:embed="rId4">
            <a:alphaModFix/>
          </a:blip>
          <a:srcRect b="0" l="0" r="0" t="0"/>
          <a:stretch/>
        </p:blipFill>
        <p:spPr>
          <a:xfrm>
            <a:off x="6771712" y="1685396"/>
            <a:ext cx="3159848" cy="1856410"/>
          </a:xfrm>
          <a:prstGeom prst="rect">
            <a:avLst/>
          </a:prstGeom>
          <a:noFill/>
          <a:ln>
            <a:noFill/>
          </a:ln>
        </p:spPr>
      </p:pic>
      <p:sp>
        <p:nvSpPr>
          <p:cNvPr id="133" name="Google Shape;133;p8"/>
          <p:cNvSpPr/>
          <p:nvPr/>
        </p:nvSpPr>
        <p:spPr>
          <a:xfrm>
            <a:off x="1357382" y="4015326"/>
            <a:ext cx="4030134" cy="2124168"/>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C0C0C"/>
                </a:solidFill>
                <a:latin typeface="Calibri"/>
                <a:ea typeface="Calibri"/>
                <a:cs typeface="Calibri"/>
                <a:sym typeface="Calibri"/>
              </a:rPr>
              <a:t>Use 7-day rolling average for strategic decisions and monitoring trends. Use daily values only when short-term or real-time issues need investigation.</a:t>
            </a:r>
            <a:endParaRPr/>
          </a:p>
          <a:p>
            <a:pPr indent="0" lvl="0" marL="0" marR="0" rtl="0" algn="ctr">
              <a:spcBef>
                <a:spcPts val="0"/>
              </a:spcBef>
              <a:spcAft>
                <a:spcPts val="0"/>
              </a:spcAft>
              <a:buNone/>
            </a:pPr>
            <a:r>
              <a:rPr b="0" i="0" lang="en-US" sz="1800" u="none" cap="none" strike="noStrike">
                <a:solidFill>
                  <a:srgbClr val="0C0C0C"/>
                </a:solidFill>
                <a:latin typeface="Calibri"/>
                <a:ea typeface="Calibri"/>
                <a:cs typeface="Calibri"/>
                <a:sym typeface="Calibri"/>
              </a:rPr>
              <a:t>7 day rolling average smmothes the sudden spikes and gice consistent trend</a:t>
            </a:r>
            <a:endParaRPr/>
          </a:p>
        </p:txBody>
      </p:sp>
      <p:pic>
        <p:nvPicPr>
          <p:cNvPr id="134" name="Google Shape;134;p8"/>
          <p:cNvPicPr preferRelativeResize="0"/>
          <p:nvPr/>
        </p:nvPicPr>
        <p:blipFill rotWithShape="1">
          <a:blip r:embed="rId5">
            <a:alphaModFix/>
          </a:blip>
          <a:srcRect b="0" l="0" r="0" t="0"/>
          <a:stretch/>
        </p:blipFill>
        <p:spPr>
          <a:xfrm>
            <a:off x="6201620" y="4424787"/>
            <a:ext cx="5048955" cy="14956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 share of each language in last 30 days</a:t>
            </a:r>
            <a:endParaRPr/>
          </a:p>
        </p:txBody>
      </p:sp>
      <p:sp>
        <p:nvSpPr>
          <p:cNvPr id="140" name="Google Shape;140;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41" name="Google Shape;141;p9"/>
          <p:cNvPicPr preferRelativeResize="0"/>
          <p:nvPr/>
        </p:nvPicPr>
        <p:blipFill rotWithShape="1">
          <a:blip r:embed="rId3">
            <a:alphaModFix/>
          </a:blip>
          <a:srcRect b="0" l="0" r="0" t="0"/>
          <a:stretch/>
        </p:blipFill>
        <p:spPr>
          <a:xfrm>
            <a:off x="294568" y="1690688"/>
            <a:ext cx="4131460" cy="4100512"/>
          </a:xfrm>
          <a:prstGeom prst="rect">
            <a:avLst/>
          </a:prstGeom>
          <a:noFill/>
          <a:ln>
            <a:noFill/>
          </a:ln>
        </p:spPr>
      </p:pic>
      <p:sp>
        <p:nvSpPr>
          <p:cNvPr id="142" name="Google Shape;142;p9"/>
          <p:cNvSpPr/>
          <p:nvPr/>
        </p:nvSpPr>
        <p:spPr>
          <a:xfrm>
            <a:off x="8162925" y="4506010"/>
            <a:ext cx="184731"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
        <p:nvSpPr>
          <p:cNvPr id="143" name="Google Shape;143;p9"/>
          <p:cNvSpPr/>
          <p:nvPr/>
        </p:nvSpPr>
        <p:spPr>
          <a:xfrm>
            <a:off x="4659841" y="1765081"/>
            <a:ext cx="5674784" cy="3387259"/>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C0C0C"/>
              </a:solidFill>
              <a:latin typeface="Calibri"/>
              <a:ea typeface="Calibri"/>
              <a:cs typeface="Calibri"/>
              <a:sym typeface="Calibri"/>
            </a:endParaRPr>
          </a:p>
        </p:txBody>
      </p:sp>
      <p:sp>
        <p:nvSpPr>
          <p:cNvPr id="144" name="Google Shape;144;p9"/>
          <p:cNvSpPr/>
          <p:nvPr/>
        </p:nvSpPr>
        <p:spPr>
          <a:xfrm>
            <a:off x="4659842" y="1773228"/>
            <a:ext cx="5674784" cy="3416320"/>
          </a:xfrm>
          <a:prstGeom prst="rect">
            <a:avLst/>
          </a:prstGeom>
          <a:noFill/>
          <a:ln>
            <a:noFill/>
          </a:ln>
        </p:spPr>
        <p:txBody>
          <a:bodyPr anchorCtr="0" anchor="ctr"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English dominates</a:t>
            </a:r>
            <a:r>
              <a:rPr b="0" i="0" lang="en-US" sz="1800" u="none" cap="none" strike="noStrike">
                <a:solidFill>
                  <a:schemeClr val="dk1"/>
                </a:solidFill>
                <a:latin typeface="Arial"/>
                <a:ea typeface="Arial"/>
                <a:cs typeface="Arial"/>
                <a:sym typeface="Arial"/>
              </a:rPr>
              <a:t> with </a:t>
            </a:r>
            <a:r>
              <a:rPr b="1" i="0" lang="en-US" sz="1800" u="none" cap="none" strike="noStrike">
                <a:solidFill>
                  <a:schemeClr val="dk1"/>
                </a:solidFill>
                <a:latin typeface="Arial"/>
                <a:ea typeface="Arial"/>
                <a:cs typeface="Arial"/>
                <a:sym typeface="Arial"/>
              </a:rPr>
              <a:t>50.88%</a:t>
            </a:r>
            <a:r>
              <a:rPr b="0" i="0" lang="en-US" sz="1800" u="none" cap="none" strike="noStrike">
                <a:solidFill>
                  <a:schemeClr val="dk1"/>
                </a:solidFill>
                <a:latin typeface="Arial"/>
                <a:ea typeface="Arial"/>
                <a:cs typeface="Arial"/>
                <a:sym typeface="Arial"/>
              </a:rPr>
              <a:t> share, indicating it's the primary language used.</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Other top languages include </a:t>
            </a:r>
            <a:r>
              <a:rPr b="1" i="0" lang="en-US" sz="1800" u="none" cap="none" strike="noStrike">
                <a:solidFill>
                  <a:schemeClr val="dk1"/>
                </a:solidFill>
                <a:latin typeface="Arial"/>
                <a:ea typeface="Arial"/>
                <a:cs typeface="Arial"/>
                <a:sym typeface="Arial"/>
              </a:rPr>
              <a:t>Spanish (9.14%)</a:t>
            </a: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French (7.75%)</a:t>
            </a:r>
            <a:r>
              <a:rPr b="0" i="0" lang="en-US" sz="1800" u="none" cap="none" strike="noStrike">
                <a:solidFill>
                  <a:schemeClr val="dk1"/>
                </a:solidFill>
                <a:latin typeface="Arial"/>
                <a:ea typeface="Arial"/>
                <a:cs typeface="Arial"/>
                <a:sym typeface="Arial"/>
              </a:rPr>
              <a:t>, and </a:t>
            </a:r>
            <a:r>
              <a:rPr b="1" i="0" lang="en-US" sz="1800" u="none" cap="none" strike="noStrike">
                <a:solidFill>
                  <a:schemeClr val="dk1"/>
                </a:solidFill>
                <a:latin typeface="Arial"/>
                <a:ea typeface="Arial"/>
                <a:cs typeface="Arial"/>
                <a:sym typeface="Arial"/>
              </a:rPr>
              <a:t>Japanese (7.01%)</a:t>
            </a:r>
            <a:r>
              <a:rPr b="0" i="0" lang="en-US" sz="1800" u="none" cap="none" strike="noStrike">
                <a:solidFill>
                  <a:schemeClr val="dk1"/>
                </a:solidFill>
                <a:latin typeface="Arial"/>
                <a:ea typeface="Arial"/>
                <a:cs typeface="Arial"/>
                <a:sym typeface="Arial"/>
              </a:rPr>
              <a:t>, showing notable global engagement.</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Languages like </a:t>
            </a:r>
            <a:r>
              <a:rPr b="1" i="0" lang="en-US" sz="1800" u="none" cap="none" strike="noStrike">
                <a:solidFill>
                  <a:schemeClr val="dk1"/>
                </a:solidFill>
                <a:latin typeface="Arial"/>
                <a:ea typeface="Arial"/>
                <a:cs typeface="Arial"/>
                <a:sym typeface="Arial"/>
              </a:rPr>
              <a:t>Korean (1.51%)</a:t>
            </a: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Italian (2.11%)</a:t>
            </a:r>
            <a:r>
              <a:rPr b="0" i="0" lang="en-US" sz="1800" u="none" cap="none" strike="noStrike">
                <a:solidFill>
                  <a:schemeClr val="dk1"/>
                </a:solidFill>
                <a:latin typeface="Arial"/>
                <a:ea typeface="Arial"/>
                <a:cs typeface="Arial"/>
                <a:sym typeface="Arial"/>
              </a:rPr>
              <a:t>, and </a:t>
            </a:r>
            <a:r>
              <a:rPr b="1" i="0" lang="en-US" sz="1800" u="none" cap="none" strike="noStrike">
                <a:solidFill>
                  <a:schemeClr val="dk1"/>
                </a:solidFill>
                <a:latin typeface="Arial"/>
                <a:ea typeface="Arial"/>
                <a:cs typeface="Arial"/>
                <a:sym typeface="Arial"/>
              </a:rPr>
              <a:t>Indian (2.98%)</a:t>
            </a:r>
            <a:r>
              <a:rPr b="0" i="0" lang="en-US" sz="1800" u="none" cap="none" strike="noStrike">
                <a:solidFill>
                  <a:schemeClr val="dk1"/>
                </a:solidFill>
                <a:latin typeface="Arial"/>
                <a:ea typeface="Arial"/>
                <a:cs typeface="Arial"/>
                <a:sym typeface="Arial"/>
              </a:rPr>
              <a:t> have relatively low representation.</a:t>
            </a:r>
            <a:endParaRPr/>
          </a:p>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Insight:</a:t>
            </a:r>
            <a:r>
              <a:rPr b="0" i="0" lang="en-US" sz="1800" u="none" cap="none" strike="noStrike">
                <a:solidFill>
                  <a:schemeClr val="dk1"/>
                </a:solidFill>
                <a:latin typeface="Arial"/>
                <a:ea typeface="Arial"/>
                <a:cs typeface="Arial"/>
                <a:sym typeface="Arial"/>
              </a:rPr>
              <a:t> While English leads, there is a diverse multilingual user base—consider investing in localization and support for high-growth non-English languages like Spanish and French to expand global reach.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Duplicate rows in job_data table</a:t>
            </a:r>
            <a:endParaRPr/>
          </a:p>
        </p:txBody>
      </p:sp>
      <p:sp>
        <p:nvSpPr>
          <p:cNvPr id="150" name="Google Shape;150;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51" name="Google Shape;151;p10"/>
          <p:cNvPicPr preferRelativeResize="0"/>
          <p:nvPr/>
        </p:nvPicPr>
        <p:blipFill rotWithShape="1">
          <a:blip r:embed="rId3">
            <a:alphaModFix/>
          </a:blip>
          <a:srcRect b="0" l="0" r="0" t="0"/>
          <a:stretch/>
        </p:blipFill>
        <p:spPr>
          <a:xfrm>
            <a:off x="923577" y="1933560"/>
            <a:ext cx="5650419" cy="238140"/>
          </a:xfrm>
          <a:prstGeom prst="rect">
            <a:avLst/>
          </a:prstGeom>
          <a:noFill/>
          <a:ln>
            <a:noFill/>
          </a:ln>
        </p:spPr>
      </p:pic>
      <p:sp>
        <p:nvSpPr>
          <p:cNvPr id="152" name="Google Shape;152;p10"/>
          <p:cNvSpPr/>
          <p:nvPr/>
        </p:nvSpPr>
        <p:spPr>
          <a:xfrm>
            <a:off x="5440891" y="3429000"/>
            <a:ext cx="4885267" cy="981075"/>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0C0C0C"/>
                </a:solidFill>
                <a:latin typeface="Calibri"/>
                <a:ea typeface="Calibri"/>
                <a:cs typeface="Calibri"/>
                <a:sym typeface="Calibri"/>
              </a:rPr>
              <a:t>It gives no output means no duplicate rows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Case study 2 </a:t>
            </a:r>
            <a:endParaRPr/>
          </a:p>
        </p:txBody>
      </p:sp>
      <p:sp>
        <p:nvSpPr>
          <p:cNvPr id="158" name="Google Shape;158;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User Growth Analysis </a:t>
            </a:r>
            <a:endParaRPr/>
          </a:p>
        </p:txBody>
      </p:sp>
      <p:sp>
        <p:nvSpPr>
          <p:cNvPr id="164" name="Google Shape;164;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65" name="Google Shape;165;p12"/>
          <p:cNvPicPr preferRelativeResize="0"/>
          <p:nvPr/>
        </p:nvPicPr>
        <p:blipFill rotWithShape="1">
          <a:blip r:embed="rId3">
            <a:alphaModFix/>
          </a:blip>
          <a:srcRect b="-373" l="-1" r="7117" t="0"/>
          <a:stretch/>
        </p:blipFill>
        <p:spPr>
          <a:xfrm>
            <a:off x="0" y="1708944"/>
            <a:ext cx="7830608" cy="4584700"/>
          </a:xfrm>
          <a:prstGeom prst="rect">
            <a:avLst/>
          </a:prstGeom>
          <a:noFill/>
          <a:ln>
            <a:noFill/>
          </a:ln>
        </p:spPr>
      </p:pic>
      <p:sp>
        <p:nvSpPr>
          <p:cNvPr id="166" name="Google Shape;166;p12"/>
          <p:cNvSpPr/>
          <p:nvPr/>
        </p:nvSpPr>
        <p:spPr>
          <a:xfrm>
            <a:off x="7659158" y="3429000"/>
            <a:ext cx="4532842" cy="2486025"/>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400" u="none" cap="none" strike="noStrike">
                <a:solidFill>
                  <a:srgbClr val="0C0C0C"/>
                </a:solidFill>
                <a:latin typeface="Calibri"/>
                <a:ea typeface="Calibri"/>
                <a:cs typeface="Calibri"/>
                <a:sym typeface="Calibri"/>
              </a:rPr>
              <a:t>In </a:t>
            </a:r>
            <a:r>
              <a:rPr b="1" i="0" lang="en-US" sz="1400" u="none" cap="none" strike="noStrike">
                <a:solidFill>
                  <a:srgbClr val="0C0C0C"/>
                </a:solidFill>
                <a:latin typeface="Calibri"/>
                <a:ea typeface="Calibri"/>
                <a:cs typeface="Calibri"/>
                <a:sym typeface="Calibri"/>
              </a:rPr>
              <a:t>2013</a:t>
            </a:r>
            <a:r>
              <a:rPr b="0" i="0" lang="en-US" sz="1400" u="none" cap="none" strike="noStrike">
                <a:solidFill>
                  <a:srgbClr val="0C0C0C"/>
                </a:solidFill>
                <a:latin typeface="Calibri"/>
                <a:ea typeface="Calibri"/>
                <a:cs typeface="Calibri"/>
                <a:sym typeface="Calibri"/>
              </a:rPr>
              <a:t>, user growth was steady but slow, with minor increases from </a:t>
            </a:r>
            <a:r>
              <a:rPr b="1" i="0" lang="en-US" sz="1400" u="none" cap="none" strike="noStrike">
                <a:solidFill>
                  <a:srgbClr val="0C0C0C"/>
                </a:solidFill>
                <a:latin typeface="Calibri"/>
                <a:ea typeface="Calibri"/>
                <a:cs typeface="Calibri"/>
                <a:sym typeface="Calibri"/>
              </a:rPr>
              <a:t>May to December</a:t>
            </a:r>
            <a:r>
              <a:rPr b="0" i="0" lang="en-US" sz="1400" u="none" cap="none" strike="noStrike">
                <a:solidFill>
                  <a:srgbClr val="0C0C0C"/>
                </a:solidFill>
                <a:latin typeface="Calibri"/>
                <a:ea typeface="Calibri"/>
                <a:cs typeface="Calibri"/>
                <a:sym typeface="Calibri"/>
              </a:rPr>
              <a:t>.</a:t>
            </a:r>
            <a:endParaRPr/>
          </a:p>
          <a:p>
            <a:pPr indent="0" lvl="0" marL="0" marR="0" rtl="0" algn="l">
              <a:spcBef>
                <a:spcPts val="0"/>
              </a:spcBef>
              <a:spcAft>
                <a:spcPts val="0"/>
              </a:spcAft>
              <a:buNone/>
            </a:pPr>
            <a:r>
              <a:rPr lang="en-US" sz="1400">
                <a:solidFill>
                  <a:srgbClr val="0C0C0C"/>
                </a:solidFill>
                <a:latin typeface="Calibri"/>
                <a:ea typeface="Calibri"/>
                <a:cs typeface="Calibri"/>
                <a:sym typeface="Calibri"/>
              </a:rPr>
              <a:t>Significant growth began in </a:t>
            </a:r>
            <a:r>
              <a:rPr b="1" lang="en-US" sz="1400">
                <a:solidFill>
                  <a:srgbClr val="0C0C0C"/>
                </a:solidFill>
                <a:latin typeface="Calibri"/>
                <a:ea typeface="Calibri"/>
                <a:cs typeface="Calibri"/>
                <a:sym typeface="Calibri"/>
              </a:rPr>
              <a:t>March 2014</a:t>
            </a:r>
            <a:r>
              <a:rPr lang="en-US" sz="1400">
                <a:solidFill>
                  <a:srgbClr val="0C0C0C"/>
                </a:solidFill>
                <a:latin typeface="Calibri"/>
                <a:ea typeface="Calibri"/>
                <a:cs typeface="Calibri"/>
                <a:sym typeface="Calibri"/>
              </a:rPr>
              <a:t>, accelerating through </a:t>
            </a:r>
            <a:r>
              <a:rPr b="1" lang="en-US" sz="1400">
                <a:solidFill>
                  <a:srgbClr val="0C0C0C"/>
                </a:solidFill>
                <a:latin typeface="Calibri"/>
                <a:ea typeface="Calibri"/>
                <a:cs typeface="Calibri"/>
                <a:sym typeface="Calibri"/>
              </a:rPr>
              <a:t>May, June, and July</a:t>
            </a:r>
            <a:r>
              <a:rPr lang="en-US" sz="1400">
                <a:solidFill>
                  <a:srgbClr val="0C0C0C"/>
                </a:solidFill>
                <a:latin typeface="Calibri"/>
                <a:ea typeface="Calibri"/>
                <a:cs typeface="Calibri"/>
                <a:sym typeface="Calibri"/>
              </a:rPr>
              <a:t>, peaking in </a:t>
            </a:r>
            <a:r>
              <a:rPr b="1" lang="en-US" sz="1400">
                <a:solidFill>
                  <a:srgbClr val="0C0C0C"/>
                </a:solidFill>
                <a:latin typeface="Calibri"/>
                <a:ea typeface="Calibri"/>
                <a:cs typeface="Calibri"/>
                <a:sym typeface="Calibri"/>
              </a:rPr>
              <a:t>August</a:t>
            </a:r>
            <a:r>
              <a:rPr lang="en-US" sz="1400">
                <a:solidFill>
                  <a:srgbClr val="0C0C0C"/>
                </a:solidFill>
                <a:latin typeface="Calibri"/>
                <a:ea typeface="Calibri"/>
                <a:cs typeface="Calibri"/>
                <a:sym typeface="Calibri"/>
              </a:rPr>
              <a:t>.</a:t>
            </a:r>
            <a:endParaRPr/>
          </a:p>
          <a:p>
            <a:pPr indent="0" lvl="0" marL="0" marR="0" rtl="0" algn="l">
              <a:spcBef>
                <a:spcPts val="0"/>
              </a:spcBef>
              <a:spcAft>
                <a:spcPts val="0"/>
              </a:spcAft>
              <a:buNone/>
            </a:pPr>
            <a:r>
              <a:rPr lang="en-US" sz="1400">
                <a:solidFill>
                  <a:srgbClr val="0C0C0C"/>
                </a:solidFill>
                <a:latin typeface="Calibri"/>
                <a:ea typeface="Calibri"/>
                <a:cs typeface="Calibri"/>
                <a:sym typeface="Calibri"/>
              </a:rPr>
              <a:t>User count rose from around </a:t>
            </a:r>
            <a:r>
              <a:rPr b="1" lang="en-US" sz="1400">
                <a:solidFill>
                  <a:srgbClr val="0C0C0C"/>
                </a:solidFill>
                <a:latin typeface="Calibri"/>
                <a:ea typeface="Calibri"/>
                <a:cs typeface="Calibri"/>
                <a:sym typeface="Calibri"/>
              </a:rPr>
              <a:t>500 in January 2014</a:t>
            </a:r>
            <a:r>
              <a:rPr lang="en-US" sz="1400">
                <a:solidFill>
                  <a:srgbClr val="0C0C0C"/>
                </a:solidFill>
                <a:latin typeface="Calibri"/>
                <a:ea typeface="Calibri"/>
                <a:cs typeface="Calibri"/>
                <a:sym typeface="Calibri"/>
              </a:rPr>
              <a:t> to over </a:t>
            </a:r>
            <a:r>
              <a:rPr b="1" lang="en-US" sz="1400">
                <a:solidFill>
                  <a:srgbClr val="0C0C0C"/>
                </a:solidFill>
                <a:latin typeface="Calibri"/>
                <a:ea typeface="Calibri"/>
                <a:cs typeface="Calibri"/>
                <a:sym typeface="Calibri"/>
              </a:rPr>
              <a:t>1000 by August 2014</a:t>
            </a:r>
            <a:r>
              <a:rPr lang="en-US" sz="1400">
                <a:solidFill>
                  <a:srgbClr val="0C0C0C"/>
                </a:solidFill>
                <a:latin typeface="Calibri"/>
                <a:ea typeface="Calibri"/>
                <a:cs typeface="Calibri"/>
                <a:sym typeface="Calibri"/>
              </a:rPr>
              <a:t>, nearly </a:t>
            </a:r>
            <a:r>
              <a:rPr b="1" lang="en-US" sz="1400">
                <a:solidFill>
                  <a:srgbClr val="0C0C0C"/>
                </a:solidFill>
                <a:latin typeface="Calibri"/>
                <a:ea typeface="Calibri"/>
                <a:cs typeface="Calibri"/>
                <a:sym typeface="Calibri"/>
              </a:rPr>
              <a:t>doubling</a:t>
            </a:r>
            <a:r>
              <a:rPr lang="en-US" sz="1400">
                <a:solidFill>
                  <a:srgbClr val="0C0C0C"/>
                </a:solidFill>
                <a:latin typeface="Calibri"/>
                <a:ea typeface="Calibri"/>
                <a:cs typeface="Calibri"/>
                <a:sym typeface="Calibri"/>
              </a:rPr>
              <a:t> in just 8 months.</a:t>
            </a:r>
            <a:endParaRPr/>
          </a:p>
          <a:p>
            <a:pPr indent="0" lvl="0" marL="0" marR="0" rtl="0" algn="l">
              <a:spcBef>
                <a:spcPts val="0"/>
              </a:spcBef>
              <a:spcAft>
                <a:spcPts val="0"/>
              </a:spcAft>
              <a:buNone/>
            </a:pPr>
            <a:r>
              <a:t/>
            </a:r>
            <a:endParaRPr sz="1400">
              <a:solidFill>
                <a:srgbClr val="0C0C0C"/>
              </a:solidFill>
              <a:latin typeface="Calibri"/>
              <a:ea typeface="Calibri"/>
              <a:cs typeface="Calibri"/>
              <a:sym typeface="Calibri"/>
            </a:endParaRPr>
          </a:p>
          <a:p>
            <a:pPr indent="0" lvl="0" marL="0" marR="0" rtl="0" algn="l">
              <a:spcBef>
                <a:spcPts val="0"/>
              </a:spcBef>
              <a:spcAft>
                <a:spcPts val="0"/>
              </a:spcAft>
              <a:buNone/>
            </a:pPr>
            <a:r>
              <a:rPr lang="en-US" sz="1400">
                <a:solidFill>
                  <a:srgbClr val="0C0C0C"/>
                </a:solidFill>
                <a:latin typeface="Calibri"/>
                <a:ea typeface="Calibri"/>
                <a:cs typeface="Calibri"/>
                <a:sym typeface="Calibri"/>
              </a:rPr>
              <a:t> </a:t>
            </a:r>
            <a:r>
              <a:rPr b="1" lang="en-US" sz="1400">
                <a:solidFill>
                  <a:srgbClr val="0C0C0C"/>
                </a:solidFill>
                <a:latin typeface="Calibri"/>
                <a:ea typeface="Calibri"/>
                <a:cs typeface="Calibri"/>
                <a:sym typeface="Calibri"/>
              </a:rPr>
              <a:t>Insight:</a:t>
            </a:r>
            <a:r>
              <a:rPr lang="en-US" sz="1400">
                <a:solidFill>
                  <a:srgbClr val="0C0C0C"/>
                </a:solidFill>
                <a:latin typeface="Calibri"/>
                <a:ea typeface="Calibri"/>
                <a:cs typeface="Calibri"/>
                <a:sym typeface="Calibri"/>
              </a:rPr>
              <a:t> The strong upward trend from </a:t>
            </a:r>
            <a:r>
              <a:rPr b="1" lang="en-US" sz="1400">
                <a:solidFill>
                  <a:srgbClr val="0C0C0C"/>
                </a:solidFill>
                <a:latin typeface="Calibri"/>
                <a:ea typeface="Calibri"/>
                <a:cs typeface="Calibri"/>
                <a:sym typeface="Calibri"/>
              </a:rPr>
              <a:t>March to August 2014</a:t>
            </a:r>
            <a:r>
              <a:rPr lang="en-US" sz="1400">
                <a:solidFill>
                  <a:srgbClr val="0C0C0C"/>
                </a:solidFill>
                <a:latin typeface="Calibri"/>
                <a:ea typeface="Calibri"/>
                <a:cs typeface="Calibri"/>
                <a:sym typeface="Calibri"/>
              </a:rPr>
              <a:t> suggests impactful product changes or successful user registrations during that time. Focus analysis on these months to uncover key growth drivers.</a:t>
            </a:r>
            <a:endParaRPr/>
          </a:p>
          <a:p>
            <a:pPr indent="0" lvl="0" marL="0" marR="0" rtl="0" algn="ctr">
              <a:spcBef>
                <a:spcPts val="0"/>
              </a:spcBef>
              <a:spcAft>
                <a:spcPts val="0"/>
              </a:spcAft>
              <a:buNone/>
            </a:pPr>
            <a:r>
              <a:t/>
            </a:r>
            <a:endParaRPr sz="1400">
              <a:solidFill>
                <a:srgbClr val="0C0C0C"/>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3"/>
          <p:cNvPicPr preferRelativeResize="0"/>
          <p:nvPr/>
        </p:nvPicPr>
        <p:blipFill rotWithShape="1">
          <a:blip r:embed="rId3">
            <a:alphaModFix/>
          </a:blip>
          <a:srcRect b="0" l="0" r="0" t="0"/>
          <a:stretch/>
        </p:blipFill>
        <p:spPr>
          <a:xfrm>
            <a:off x="373968" y="484432"/>
            <a:ext cx="2181529" cy="4077269"/>
          </a:xfrm>
          <a:prstGeom prst="rect">
            <a:avLst/>
          </a:prstGeom>
          <a:noFill/>
          <a:ln>
            <a:noFill/>
          </a:ln>
        </p:spPr>
      </p:pic>
      <p:pic>
        <p:nvPicPr>
          <p:cNvPr id="172" name="Google Shape;172;p13"/>
          <p:cNvPicPr preferRelativeResize="0"/>
          <p:nvPr/>
        </p:nvPicPr>
        <p:blipFill rotWithShape="1">
          <a:blip r:embed="rId4">
            <a:alphaModFix/>
          </a:blip>
          <a:srcRect b="0" l="0" r="0" t="0"/>
          <a:stretch/>
        </p:blipFill>
        <p:spPr>
          <a:xfrm>
            <a:off x="3958901" y="1075997"/>
            <a:ext cx="5629343" cy="286100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Weekly user engagement in different events</a:t>
            </a:r>
            <a:endParaRPr/>
          </a:p>
        </p:txBody>
      </p:sp>
      <p:sp>
        <p:nvSpPr>
          <p:cNvPr id="178" name="Google Shape;17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79" name="Google Shape;179;p14"/>
          <p:cNvPicPr preferRelativeResize="0"/>
          <p:nvPr/>
        </p:nvPicPr>
        <p:blipFill rotWithShape="1">
          <a:blip r:embed="rId3">
            <a:alphaModFix/>
          </a:blip>
          <a:srcRect b="0" l="0" r="0" t="0"/>
          <a:stretch/>
        </p:blipFill>
        <p:spPr>
          <a:xfrm>
            <a:off x="643467" y="1690688"/>
            <a:ext cx="5366776" cy="4938712"/>
          </a:xfrm>
          <a:prstGeom prst="rect">
            <a:avLst/>
          </a:prstGeom>
          <a:noFill/>
          <a:ln>
            <a:noFill/>
          </a:ln>
        </p:spPr>
      </p:pic>
      <p:pic>
        <p:nvPicPr>
          <p:cNvPr id="180" name="Google Shape;180;p14"/>
          <p:cNvPicPr preferRelativeResize="0"/>
          <p:nvPr/>
        </p:nvPicPr>
        <p:blipFill rotWithShape="1">
          <a:blip r:embed="rId4">
            <a:alphaModFix/>
          </a:blip>
          <a:srcRect b="0" l="0" r="0" t="0"/>
          <a:stretch/>
        </p:blipFill>
        <p:spPr>
          <a:xfrm>
            <a:off x="6096000" y="1699155"/>
            <a:ext cx="876422" cy="695422"/>
          </a:xfrm>
          <a:prstGeom prst="rect">
            <a:avLst/>
          </a:prstGeom>
          <a:noFill/>
          <a:ln>
            <a:noFill/>
          </a:ln>
        </p:spPr>
      </p:pic>
      <p:sp>
        <p:nvSpPr>
          <p:cNvPr id="181" name="Google Shape;181;p14"/>
          <p:cNvSpPr/>
          <p:nvPr/>
        </p:nvSpPr>
        <p:spPr>
          <a:xfrm>
            <a:off x="6820958" y="2800350"/>
            <a:ext cx="4532842" cy="2105025"/>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C0C0C"/>
                </a:solidFill>
                <a:latin typeface="Calibri"/>
                <a:ea typeface="Calibri"/>
                <a:cs typeface="Calibri"/>
                <a:sym typeface="Calibri"/>
              </a:rPr>
              <a:t>Maximum users are engaged in some events during Fridays shows more user enagement on this day so more events can be conducted on this weekday to increase the user engagement more and resources can be optimized accordingly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15"/>
          <p:cNvPicPr preferRelativeResize="0"/>
          <p:nvPr/>
        </p:nvPicPr>
        <p:blipFill rotWithShape="1">
          <a:blip r:embed="rId3">
            <a:alphaModFix/>
          </a:blip>
          <a:srcRect b="0" l="0" r="0" t="0"/>
          <a:stretch/>
        </p:blipFill>
        <p:spPr>
          <a:xfrm>
            <a:off x="952399" y="906887"/>
            <a:ext cx="1448002" cy="1505160"/>
          </a:xfrm>
          <a:prstGeom prst="rect">
            <a:avLst/>
          </a:prstGeom>
          <a:noFill/>
          <a:ln>
            <a:noFill/>
          </a:ln>
        </p:spPr>
      </p:pic>
      <p:pic>
        <p:nvPicPr>
          <p:cNvPr id="187" name="Google Shape;187;p15"/>
          <p:cNvPicPr preferRelativeResize="0"/>
          <p:nvPr/>
        </p:nvPicPr>
        <p:blipFill rotWithShape="1">
          <a:blip r:embed="rId4">
            <a:alphaModFix/>
          </a:blip>
          <a:srcRect b="0" l="0" r="0" t="0"/>
          <a:stretch/>
        </p:blipFill>
        <p:spPr>
          <a:xfrm>
            <a:off x="4993398" y="1221191"/>
            <a:ext cx="4982270" cy="1790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838200" y="365126"/>
            <a:ext cx="10278533" cy="88794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Activeness of users on weekly basis per device</a:t>
            </a:r>
            <a:endParaRPr/>
          </a:p>
        </p:txBody>
      </p:sp>
      <p:sp>
        <p:nvSpPr>
          <p:cNvPr id="193" name="Google Shape;19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a:t>
            </a:r>
            <a:endParaRPr/>
          </a:p>
        </p:txBody>
      </p:sp>
      <p:pic>
        <p:nvPicPr>
          <p:cNvPr id="194" name="Google Shape;194;p16"/>
          <p:cNvPicPr preferRelativeResize="0"/>
          <p:nvPr/>
        </p:nvPicPr>
        <p:blipFill rotWithShape="1">
          <a:blip r:embed="rId3">
            <a:alphaModFix/>
          </a:blip>
          <a:srcRect b="0" l="0" r="0" t="0"/>
          <a:stretch/>
        </p:blipFill>
        <p:spPr>
          <a:xfrm>
            <a:off x="0" y="1488282"/>
            <a:ext cx="7574640" cy="4720392"/>
          </a:xfrm>
          <a:prstGeom prst="rect">
            <a:avLst/>
          </a:prstGeom>
          <a:noFill/>
          <a:ln>
            <a:noFill/>
          </a:ln>
        </p:spPr>
      </p:pic>
      <p:sp>
        <p:nvSpPr>
          <p:cNvPr id="195" name="Google Shape;195;p16"/>
          <p:cNvSpPr/>
          <p:nvPr/>
        </p:nvSpPr>
        <p:spPr>
          <a:xfrm>
            <a:off x="7574640" y="1825624"/>
            <a:ext cx="4306358" cy="4194175"/>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200">
                <a:solidFill>
                  <a:srgbClr val="0C0C0C"/>
                </a:solidFill>
                <a:latin typeface="Calibri"/>
                <a:ea typeface="Calibri"/>
                <a:cs typeface="Calibri"/>
                <a:sym typeface="Calibri"/>
              </a:rPr>
              <a:t>MacBook Pro</a:t>
            </a:r>
            <a:r>
              <a:rPr lang="en-US" sz="1200">
                <a:solidFill>
                  <a:srgbClr val="0C0C0C"/>
                </a:solidFill>
                <a:latin typeface="Calibri"/>
                <a:ea typeface="Calibri"/>
                <a:cs typeface="Calibri"/>
                <a:sym typeface="Calibri"/>
              </a:rPr>
              <a:t> users show the </a:t>
            </a:r>
            <a:r>
              <a:rPr b="1" lang="en-US" sz="1200">
                <a:solidFill>
                  <a:srgbClr val="0C0C0C"/>
                </a:solidFill>
                <a:latin typeface="Calibri"/>
                <a:ea typeface="Calibri"/>
                <a:cs typeface="Calibri"/>
                <a:sym typeface="Calibri"/>
              </a:rPr>
              <a:t>highest and most consistent activity</a:t>
            </a:r>
            <a:r>
              <a:rPr lang="en-US" sz="1200">
                <a:solidFill>
                  <a:srgbClr val="0C0C0C"/>
                </a:solidFill>
                <a:latin typeface="Calibri"/>
                <a:ea typeface="Calibri"/>
                <a:cs typeface="Calibri"/>
                <a:sym typeface="Calibri"/>
              </a:rPr>
              <a:t> throughout the entire week, indicating heavy and regular usage.</a:t>
            </a:r>
            <a:endParaRPr/>
          </a:p>
          <a:p>
            <a:pPr indent="0" lvl="0" marL="0" marR="0" rtl="0" algn="l">
              <a:spcBef>
                <a:spcPts val="0"/>
              </a:spcBef>
              <a:spcAft>
                <a:spcPts val="0"/>
              </a:spcAft>
              <a:buNone/>
            </a:pPr>
            <a:r>
              <a:rPr lang="en-US" sz="1200">
                <a:solidFill>
                  <a:srgbClr val="0C0C0C"/>
                </a:solidFill>
                <a:latin typeface="Calibri"/>
                <a:ea typeface="Calibri"/>
                <a:cs typeface="Calibri"/>
                <a:sym typeface="Calibri"/>
              </a:rPr>
              <a:t>Devices like </a:t>
            </a:r>
            <a:r>
              <a:rPr b="1" lang="en-US" sz="1200">
                <a:solidFill>
                  <a:srgbClr val="0C0C0C"/>
                </a:solidFill>
                <a:latin typeface="Calibri"/>
                <a:ea typeface="Calibri"/>
                <a:cs typeface="Calibri"/>
                <a:sym typeface="Calibri"/>
              </a:rPr>
              <a:t>iPhone 5, iPad Mini, and Lenovo ThinkPad</a:t>
            </a:r>
            <a:r>
              <a:rPr lang="en-US" sz="1200">
                <a:solidFill>
                  <a:srgbClr val="0C0C0C"/>
                </a:solidFill>
                <a:latin typeface="Calibri"/>
                <a:ea typeface="Calibri"/>
                <a:cs typeface="Calibri"/>
                <a:sym typeface="Calibri"/>
              </a:rPr>
              <a:t> also display high activity, especially during weekdays.</a:t>
            </a:r>
            <a:endParaRPr/>
          </a:p>
          <a:p>
            <a:pPr indent="0" lvl="0" marL="0" marR="0" rtl="0" algn="l">
              <a:spcBef>
                <a:spcPts val="0"/>
              </a:spcBef>
              <a:spcAft>
                <a:spcPts val="0"/>
              </a:spcAft>
              <a:buNone/>
            </a:pPr>
            <a:r>
              <a:rPr b="1" lang="en-US" sz="1200">
                <a:solidFill>
                  <a:srgbClr val="0C0C0C"/>
                </a:solidFill>
                <a:latin typeface="Calibri"/>
                <a:ea typeface="Calibri"/>
                <a:cs typeface="Calibri"/>
                <a:sym typeface="Calibri"/>
              </a:rPr>
              <a:t>Weekend activity</a:t>
            </a:r>
            <a:r>
              <a:rPr lang="en-US" sz="1200">
                <a:solidFill>
                  <a:srgbClr val="0C0C0C"/>
                </a:solidFill>
                <a:latin typeface="Calibri"/>
                <a:ea typeface="Calibri"/>
                <a:cs typeface="Calibri"/>
                <a:sym typeface="Calibri"/>
              </a:rPr>
              <a:t> is generally lower across most devices, suggesting usage is driven more by work or school-related tasks.</a:t>
            </a:r>
            <a:endParaRPr/>
          </a:p>
          <a:p>
            <a:pPr indent="0" lvl="0" marL="0" marR="0" rtl="0" algn="l">
              <a:spcBef>
                <a:spcPts val="0"/>
              </a:spcBef>
              <a:spcAft>
                <a:spcPts val="0"/>
              </a:spcAft>
              <a:buNone/>
            </a:pPr>
            <a:r>
              <a:rPr lang="en-US" sz="1200">
                <a:solidFill>
                  <a:srgbClr val="0C0C0C"/>
                </a:solidFill>
                <a:latin typeface="Calibri"/>
                <a:ea typeface="Calibri"/>
                <a:cs typeface="Calibri"/>
                <a:sym typeface="Calibri"/>
              </a:rPr>
              <a:t>Devices such as </a:t>
            </a:r>
            <a:r>
              <a:rPr b="1" lang="en-US" sz="1200">
                <a:solidFill>
                  <a:srgbClr val="0C0C0C"/>
                </a:solidFill>
                <a:latin typeface="Calibri"/>
                <a:ea typeface="Calibri"/>
                <a:cs typeface="Calibri"/>
                <a:sym typeface="Calibri"/>
              </a:rPr>
              <a:t>Asus Chromebook, Kindle Fire, and HTC One</a:t>
            </a:r>
            <a:r>
              <a:rPr lang="en-US" sz="1200">
                <a:solidFill>
                  <a:srgbClr val="0C0C0C"/>
                </a:solidFill>
                <a:latin typeface="Calibri"/>
                <a:ea typeface="Calibri"/>
                <a:cs typeface="Calibri"/>
                <a:sym typeface="Calibri"/>
              </a:rPr>
              <a:t> show </a:t>
            </a:r>
            <a:r>
              <a:rPr b="1" lang="en-US" sz="1200">
                <a:solidFill>
                  <a:srgbClr val="0C0C0C"/>
                </a:solidFill>
                <a:latin typeface="Calibri"/>
                <a:ea typeface="Calibri"/>
                <a:cs typeface="Calibri"/>
                <a:sym typeface="Calibri"/>
              </a:rPr>
              <a:t>minimal usage</a:t>
            </a:r>
            <a:r>
              <a:rPr lang="en-US" sz="1200">
                <a:solidFill>
                  <a:srgbClr val="0C0C0C"/>
                </a:solidFill>
                <a:latin typeface="Calibri"/>
                <a:ea typeface="Calibri"/>
                <a:cs typeface="Calibri"/>
                <a:sym typeface="Calibri"/>
              </a:rPr>
              <a:t>, implying low popularity or sporadic engagement.</a:t>
            </a:r>
            <a:endParaRPr/>
          </a:p>
          <a:p>
            <a:pPr indent="0" lvl="0" marL="0" marR="0" rtl="0" algn="l">
              <a:spcBef>
                <a:spcPts val="0"/>
              </a:spcBef>
              <a:spcAft>
                <a:spcPts val="0"/>
              </a:spcAft>
              <a:buNone/>
            </a:pPr>
            <a:r>
              <a:rPr b="1" lang="en-US" sz="1200">
                <a:solidFill>
                  <a:srgbClr val="0C0C0C"/>
                </a:solidFill>
                <a:latin typeface="Calibri"/>
                <a:ea typeface="Calibri"/>
                <a:cs typeface="Calibri"/>
                <a:sym typeface="Calibri"/>
              </a:rPr>
              <a:t>Activity peaks midweek (Tuesday to Thursday)</a:t>
            </a:r>
            <a:r>
              <a:rPr lang="en-US" sz="1200">
                <a:solidFill>
                  <a:srgbClr val="0C0C0C"/>
                </a:solidFill>
                <a:latin typeface="Calibri"/>
                <a:ea typeface="Calibri"/>
                <a:cs typeface="Calibri"/>
                <a:sym typeface="Calibri"/>
              </a:rPr>
              <a:t> across many devices.</a:t>
            </a:r>
            <a:endParaRPr/>
          </a:p>
          <a:p>
            <a:pPr indent="0" lvl="0" marL="0" marR="0" rtl="0" algn="l">
              <a:spcBef>
                <a:spcPts val="0"/>
              </a:spcBef>
              <a:spcAft>
                <a:spcPts val="0"/>
              </a:spcAft>
              <a:buNone/>
            </a:pPr>
            <a:r>
              <a:rPr lang="en-US" sz="1200">
                <a:solidFill>
                  <a:srgbClr val="0C0C0C"/>
                </a:solidFill>
                <a:latin typeface="Calibri"/>
                <a:ea typeface="Calibri"/>
                <a:cs typeface="Calibri"/>
                <a:sym typeface="Calibri"/>
              </a:rPr>
              <a:t>This pattern indicates that device usage is strongly tied to weekday productivity and diminishes during weekends for most users.</a:t>
            </a:r>
            <a:endParaRPr/>
          </a:p>
          <a:p>
            <a:pPr indent="0" lvl="0" marL="0" marR="0" rtl="0" algn="ctr">
              <a:spcBef>
                <a:spcPts val="0"/>
              </a:spcBef>
              <a:spcAft>
                <a:spcPts val="0"/>
              </a:spcAft>
              <a:buNone/>
            </a:pPr>
            <a:r>
              <a:t/>
            </a:r>
            <a:endParaRPr sz="1200">
              <a:solidFill>
                <a:srgbClr val="0C0C0C"/>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7"/>
          <p:cNvPicPr preferRelativeResize="0"/>
          <p:nvPr/>
        </p:nvPicPr>
        <p:blipFill rotWithShape="1">
          <a:blip r:embed="rId3">
            <a:alphaModFix/>
          </a:blip>
          <a:srcRect b="0" l="0" r="0" t="0"/>
          <a:stretch/>
        </p:blipFill>
        <p:spPr>
          <a:xfrm>
            <a:off x="621502" y="431800"/>
            <a:ext cx="2104764" cy="5838772"/>
          </a:xfrm>
          <a:prstGeom prst="rect">
            <a:avLst/>
          </a:prstGeom>
          <a:noFill/>
          <a:ln>
            <a:noFill/>
          </a:ln>
        </p:spPr>
      </p:pic>
      <p:pic>
        <p:nvPicPr>
          <p:cNvPr id="201" name="Google Shape;201;p17"/>
          <p:cNvPicPr preferRelativeResize="0"/>
          <p:nvPr/>
        </p:nvPicPr>
        <p:blipFill rotWithShape="1">
          <a:blip r:embed="rId4">
            <a:alphaModFix/>
          </a:blip>
          <a:srcRect b="0" l="0" r="0" t="0"/>
          <a:stretch/>
        </p:blipFill>
        <p:spPr>
          <a:xfrm>
            <a:off x="5115111" y="2227079"/>
            <a:ext cx="4925112" cy="224821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59267" y="506949"/>
            <a:ext cx="9524999" cy="83246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Email engagement analysis</a:t>
            </a:r>
            <a:endParaRPr/>
          </a:p>
        </p:txBody>
      </p:sp>
      <p:pic>
        <p:nvPicPr>
          <p:cNvPr id="207" name="Google Shape;207;p18"/>
          <p:cNvPicPr preferRelativeResize="0"/>
          <p:nvPr/>
        </p:nvPicPr>
        <p:blipFill rotWithShape="1">
          <a:blip r:embed="rId3">
            <a:alphaModFix/>
          </a:blip>
          <a:srcRect b="0" l="0" r="0" t="0"/>
          <a:stretch/>
        </p:blipFill>
        <p:spPr>
          <a:xfrm>
            <a:off x="347133" y="1219200"/>
            <a:ext cx="1972733" cy="5444067"/>
          </a:xfrm>
          <a:prstGeom prst="rect">
            <a:avLst/>
          </a:prstGeom>
          <a:noFill/>
          <a:ln>
            <a:noFill/>
          </a:ln>
        </p:spPr>
      </p:pic>
      <p:pic>
        <p:nvPicPr>
          <p:cNvPr id="208" name="Google Shape;208;p18"/>
          <p:cNvPicPr preferRelativeResize="0"/>
          <p:nvPr/>
        </p:nvPicPr>
        <p:blipFill rotWithShape="1">
          <a:blip r:embed="rId4">
            <a:alphaModFix/>
          </a:blip>
          <a:srcRect b="0" l="0" r="0" t="0"/>
          <a:stretch/>
        </p:blipFill>
        <p:spPr>
          <a:xfrm>
            <a:off x="2319866" y="1508660"/>
            <a:ext cx="1381318" cy="1086002"/>
          </a:xfrm>
          <a:prstGeom prst="rect">
            <a:avLst/>
          </a:prstGeom>
          <a:noFill/>
          <a:ln>
            <a:noFill/>
          </a:ln>
        </p:spPr>
      </p:pic>
      <p:sp>
        <p:nvSpPr>
          <p:cNvPr id="209" name="Google Shape;209;p18"/>
          <p:cNvSpPr/>
          <p:nvPr/>
        </p:nvSpPr>
        <p:spPr>
          <a:xfrm>
            <a:off x="5439833" y="2014537"/>
            <a:ext cx="4532842" cy="2828925"/>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400">
                <a:solidFill>
                  <a:srgbClr val="0C0C0C"/>
                </a:solidFill>
                <a:latin typeface="Calibri"/>
                <a:ea typeface="Calibri"/>
                <a:cs typeface="Calibri"/>
                <a:sym typeface="Calibri"/>
              </a:rPr>
              <a:t>Most users (57,267)</a:t>
            </a:r>
            <a:r>
              <a:rPr lang="en-US" sz="1400">
                <a:solidFill>
                  <a:srgbClr val="0C0C0C"/>
                </a:solidFill>
                <a:latin typeface="Calibri"/>
                <a:ea typeface="Calibri"/>
                <a:cs typeface="Calibri"/>
                <a:sym typeface="Calibri"/>
              </a:rPr>
              <a:t> received the </a:t>
            </a:r>
            <a:r>
              <a:rPr b="1" lang="en-US" sz="1400">
                <a:solidFill>
                  <a:srgbClr val="0C0C0C"/>
                </a:solidFill>
                <a:latin typeface="Calibri"/>
                <a:ea typeface="Calibri"/>
                <a:cs typeface="Calibri"/>
                <a:sym typeface="Calibri"/>
              </a:rPr>
              <a:t>weekly digest</a:t>
            </a:r>
            <a:r>
              <a:rPr lang="en-US" sz="1400">
                <a:solidFill>
                  <a:srgbClr val="0C0C0C"/>
                </a:solidFill>
                <a:latin typeface="Calibri"/>
                <a:ea typeface="Calibri"/>
                <a:cs typeface="Calibri"/>
                <a:sym typeface="Calibri"/>
              </a:rPr>
              <a:t> email, but only </a:t>
            </a:r>
            <a:r>
              <a:rPr b="1" lang="en-US" sz="1400">
                <a:solidFill>
                  <a:srgbClr val="0C0C0C"/>
                </a:solidFill>
                <a:latin typeface="Calibri"/>
                <a:ea typeface="Calibri"/>
                <a:cs typeface="Calibri"/>
                <a:sym typeface="Calibri"/>
              </a:rPr>
              <a:t>20,459 opened</a:t>
            </a:r>
            <a:r>
              <a:rPr lang="en-US" sz="1400">
                <a:solidFill>
                  <a:srgbClr val="0C0C0C"/>
                </a:solidFill>
                <a:latin typeface="Calibri"/>
                <a:ea typeface="Calibri"/>
                <a:cs typeface="Calibri"/>
                <a:sym typeface="Calibri"/>
              </a:rPr>
              <a:t> them, and just </a:t>
            </a:r>
            <a:r>
              <a:rPr b="1" lang="en-US" sz="1400">
                <a:solidFill>
                  <a:srgbClr val="0C0C0C"/>
                </a:solidFill>
                <a:latin typeface="Calibri"/>
                <a:ea typeface="Calibri"/>
                <a:cs typeface="Calibri"/>
                <a:sym typeface="Calibri"/>
              </a:rPr>
              <a:t>9,010 clicked through</a:t>
            </a:r>
            <a:r>
              <a:rPr lang="en-US" sz="1400">
                <a:solidFill>
                  <a:srgbClr val="0C0C0C"/>
                </a:solidFill>
                <a:latin typeface="Calibri"/>
                <a:ea typeface="Calibri"/>
                <a:cs typeface="Calibri"/>
                <a:sym typeface="Calibri"/>
              </a:rPr>
              <a:t>, indicating a </a:t>
            </a:r>
            <a:r>
              <a:rPr b="1" lang="en-US" sz="1400">
                <a:solidFill>
                  <a:srgbClr val="0C0C0C"/>
                </a:solidFill>
                <a:latin typeface="Calibri"/>
                <a:ea typeface="Calibri"/>
                <a:cs typeface="Calibri"/>
                <a:sym typeface="Calibri"/>
              </a:rPr>
              <a:t>low engagement rate</a:t>
            </a:r>
            <a:r>
              <a:rPr lang="en-US" sz="1400">
                <a:solidFill>
                  <a:srgbClr val="0C0C0C"/>
                </a:solidFill>
                <a:latin typeface="Calibri"/>
                <a:ea typeface="Calibri"/>
                <a:cs typeface="Calibri"/>
                <a:sym typeface="Calibri"/>
              </a:rPr>
              <a:t>.</a:t>
            </a:r>
            <a:endParaRPr/>
          </a:p>
          <a:p>
            <a:pPr indent="0" lvl="0" marL="0" marR="0" rtl="0" algn="l">
              <a:spcBef>
                <a:spcPts val="0"/>
              </a:spcBef>
              <a:spcAft>
                <a:spcPts val="0"/>
              </a:spcAft>
              <a:buNone/>
            </a:pPr>
            <a:r>
              <a:rPr lang="en-US" sz="1400">
                <a:solidFill>
                  <a:srgbClr val="0C0C0C"/>
                </a:solidFill>
                <a:latin typeface="Calibri"/>
                <a:ea typeface="Calibri"/>
                <a:cs typeface="Calibri"/>
                <a:sym typeface="Calibri"/>
              </a:rPr>
              <a:t>A small portion (3,653) were sent </a:t>
            </a:r>
            <a:r>
              <a:rPr b="1" lang="en-US" sz="1400">
                <a:solidFill>
                  <a:srgbClr val="0C0C0C"/>
                </a:solidFill>
                <a:latin typeface="Calibri"/>
                <a:ea typeface="Calibri"/>
                <a:cs typeface="Calibri"/>
                <a:sym typeface="Calibri"/>
              </a:rPr>
              <a:t>re-engagement emails</a:t>
            </a:r>
            <a:r>
              <a:rPr lang="en-US" sz="1400">
                <a:solidFill>
                  <a:srgbClr val="0C0C0C"/>
                </a:solidFill>
                <a:latin typeface="Calibri"/>
                <a:ea typeface="Calibri"/>
                <a:cs typeface="Calibri"/>
                <a:sym typeface="Calibri"/>
              </a:rPr>
              <a:t>, suggesting a segment of inactive users being targeted.</a:t>
            </a:r>
            <a:endParaRPr/>
          </a:p>
          <a:p>
            <a:pPr indent="0" lvl="0" marL="0" marR="0" rtl="0" algn="l">
              <a:spcBef>
                <a:spcPts val="0"/>
              </a:spcBef>
              <a:spcAft>
                <a:spcPts val="0"/>
              </a:spcAft>
              <a:buNone/>
            </a:pPr>
            <a:r>
              <a:rPr lang="en-US" sz="1400">
                <a:solidFill>
                  <a:srgbClr val="0C0C0C"/>
                </a:solidFill>
                <a:latin typeface="Calibri"/>
                <a:ea typeface="Calibri"/>
                <a:cs typeface="Calibri"/>
                <a:sym typeface="Calibri"/>
              </a:rPr>
              <a:t>The </a:t>
            </a:r>
            <a:r>
              <a:rPr b="1" lang="en-US" sz="1400">
                <a:solidFill>
                  <a:srgbClr val="0C0C0C"/>
                </a:solidFill>
                <a:latin typeface="Calibri"/>
                <a:ea typeface="Calibri"/>
                <a:cs typeface="Calibri"/>
                <a:sym typeface="Calibri"/>
              </a:rPr>
              <a:t>clickthrough rate</a:t>
            </a:r>
            <a:r>
              <a:rPr lang="en-US" sz="1400">
                <a:solidFill>
                  <a:srgbClr val="0C0C0C"/>
                </a:solidFill>
                <a:latin typeface="Calibri"/>
                <a:ea typeface="Calibri"/>
                <a:cs typeface="Calibri"/>
                <a:sym typeface="Calibri"/>
              </a:rPr>
              <a:t> is notably low compared to the number of emails sent and opened, pointing to potential issues with content relevance or call-to-action effectiveness.</a:t>
            </a:r>
            <a:endParaRPr/>
          </a:p>
          <a:p>
            <a:pPr indent="0" lvl="0" marL="0" marR="0" rtl="0" algn="l">
              <a:spcBef>
                <a:spcPts val="0"/>
              </a:spcBef>
              <a:spcAft>
                <a:spcPts val="0"/>
              </a:spcAft>
              <a:buNone/>
            </a:pPr>
            <a:r>
              <a:rPr lang="en-US" sz="1400">
                <a:solidFill>
                  <a:srgbClr val="0C0C0C"/>
                </a:solidFill>
                <a:latin typeface="Calibri"/>
                <a:ea typeface="Calibri"/>
                <a:cs typeface="Calibri"/>
                <a:sym typeface="Calibri"/>
              </a:rPr>
              <a:t>Improving subject lines, content value, and CTAs could help boost engagement.</a:t>
            </a:r>
            <a:endParaRPr/>
          </a:p>
          <a:p>
            <a:pPr indent="0" lvl="0" marL="0" marR="0" rtl="0" algn="ctr">
              <a:spcBef>
                <a:spcPts val="0"/>
              </a:spcBef>
              <a:spcAft>
                <a:spcPts val="0"/>
              </a:spcAft>
              <a:buNone/>
            </a:pPr>
            <a:r>
              <a:t/>
            </a:r>
            <a:endParaRPr sz="1400">
              <a:solidFill>
                <a:srgbClr val="0C0C0C"/>
              </a:solidFill>
              <a:latin typeface="Calibri"/>
              <a:ea typeface="Calibri"/>
              <a:cs typeface="Calibri"/>
              <a:sym typeface="Calibri"/>
            </a:endParaRPr>
          </a:p>
        </p:txBody>
      </p:sp>
      <p:pic>
        <p:nvPicPr>
          <p:cNvPr id="210" name="Google Shape;210;p18"/>
          <p:cNvPicPr preferRelativeResize="0"/>
          <p:nvPr/>
        </p:nvPicPr>
        <p:blipFill rotWithShape="1">
          <a:blip r:embed="rId5">
            <a:alphaModFix/>
          </a:blip>
          <a:srcRect b="0" l="0" r="0" t="0"/>
          <a:stretch/>
        </p:blipFill>
        <p:spPr>
          <a:xfrm>
            <a:off x="2319866" y="3564467"/>
            <a:ext cx="2959456" cy="15812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19"/>
          <p:cNvPicPr preferRelativeResize="0"/>
          <p:nvPr/>
        </p:nvPicPr>
        <p:blipFill rotWithShape="1">
          <a:blip r:embed="rId3">
            <a:alphaModFix/>
          </a:blip>
          <a:srcRect b="0" l="0" r="0" t="0"/>
          <a:stretch/>
        </p:blipFill>
        <p:spPr>
          <a:xfrm>
            <a:off x="286221" y="113779"/>
            <a:ext cx="5247159" cy="4593687"/>
          </a:xfrm>
          <a:prstGeom prst="rect">
            <a:avLst/>
          </a:prstGeom>
          <a:noFill/>
          <a:ln>
            <a:noFill/>
          </a:ln>
        </p:spPr>
      </p:pic>
      <p:pic>
        <p:nvPicPr>
          <p:cNvPr id="216" name="Google Shape;216;p19"/>
          <p:cNvPicPr preferRelativeResize="0"/>
          <p:nvPr/>
        </p:nvPicPr>
        <p:blipFill rotWithShape="1">
          <a:blip r:embed="rId4">
            <a:alphaModFix/>
          </a:blip>
          <a:srcRect b="0" l="0" r="0" t="0"/>
          <a:stretch/>
        </p:blipFill>
        <p:spPr>
          <a:xfrm>
            <a:off x="755869" y="5035404"/>
            <a:ext cx="1390844" cy="1047896"/>
          </a:xfrm>
          <a:prstGeom prst="rect">
            <a:avLst/>
          </a:prstGeom>
          <a:noFill/>
          <a:ln>
            <a:noFill/>
          </a:ln>
        </p:spPr>
      </p:pic>
      <p:sp>
        <p:nvSpPr>
          <p:cNvPr id="217" name="Google Shape;217;p19"/>
          <p:cNvSpPr/>
          <p:nvPr/>
        </p:nvSpPr>
        <p:spPr>
          <a:xfrm>
            <a:off x="6096000" y="2019300"/>
            <a:ext cx="4532842" cy="1985962"/>
          </a:xfrm>
          <a:prstGeom prst="rect">
            <a:avLst/>
          </a:prstGeom>
          <a:solidFill>
            <a:schemeClr val="accent2">
              <a:alpha val="4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C0C0C"/>
                </a:solidFill>
                <a:latin typeface="Calibri"/>
                <a:ea typeface="Calibri"/>
                <a:cs typeface="Calibri"/>
                <a:sym typeface="Calibri"/>
              </a:rPr>
              <a:t>Email engagement peaks on </a:t>
            </a:r>
            <a:r>
              <a:rPr b="1" lang="en-US" sz="1400">
                <a:solidFill>
                  <a:srgbClr val="0C0C0C"/>
                </a:solidFill>
                <a:latin typeface="Calibri"/>
                <a:ea typeface="Calibri"/>
                <a:cs typeface="Calibri"/>
                <a:sym typeface="Calibri"/>
              </a:rPr>
              <a:t>Monday</a:t>
            </a:r>
            <a:r>
              <a:rPr lang="en-US" sz="1400">
                <a:solidFill>
                  <a:srgbClr val="0C0C0C"/>
                </a:solidFill>
                <a:latin typeface="Calibri"/>
                <a:ea typeface="Calibri"/>
                <a:cs typeface="Calibri"/>
                <a:sym typeface="Calibri"/>
              </a:rPr>
              <a:t>, with the highest opens and clickthroughs. Activity declines midweek and drops sharply on </a:t>
            </a:r>
            <a:r>
              <a:rPr b="1" lang="en-US" sz="1400">
                <a:solidFill>
                  <a:srgbClr val="0C0C0C"/>
                </a:solidFill>
                <a:latin typeface="Calibri"/>
                <a:ea typeface="Calibri"/>
                <a:cs typeface="Calibri"/>
                <a:sym typeface="Calibri"/>
              </a:rPr>
              <a:t>weekends</a:t>
            </a:r>
            <a:r>
              <a:rPr lang="en-US" sz="1400">
                <a:solidFill>
                  <a:srgbClr val="0C0C0C"/>
                </a:solidFill>
                <a:latin typeface="Calibri"/>
                <a:ea typeface="Calibri"/>
                <a:cs typeface="Calibri"/>
                <a:sym typeface="Calibri"/>
              </a:rPr>
              <a:t>. Weekly digests are mostly sent early in the week. Reengagement remains consistently low.</a:t>
            </a:r>
            <a:br>
              <a:rPr lang="en-US" sz="1400">
                <a:solidFill>
                  <a:srgbClr val="0C0C0C"/>
                </a:solidFill>
                <a:latin typeface="Calibri"/>
                <a:ea typeface="Calibri"/>
                <a:cs typeface="Calibri"/>
                <a:sym typeface="Calibri"/>
              </a:rPr>
            </a:br>
            <a:r>
              <a:rPr b="1" lang="en-US" sz="1400">
                <a:solidFill>
                  <a:srgbClr val="0C0C0C"/>
                </a:solidFill>
                <a:latin typeface="Calibri"/>
                <a:ea typeface="Calibri"/>
                <a:cs typeface="Calibri"/>
                <a:sym typeface="Calibri"/>
              </a:rPr>
              <a:t>Recommendation</a:t>
            </a:r>
            <a:r>
              <a:rPr lang="en-US" sz="1400">
                <a:solidFill>
                  <a:srgbClr val="0C0C0C"/>
                </a:solidFill>
                <a:latin typeface="Calibri"/>
                <a:ea typeface="Calibri"/>
                <a:cs typeface="Calibri"/>
                <a:sym typeface="Calibri"/>
              </a:rPr>
              <a:t>: Send key emails early in the week to boost engagement.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0"/>
          <p:cNvPicPr preferRelativeResize="0"/>
          <p:nvPr/>
        </p:nvPicPr>
        <p:blipFill rotWithShape="1">
          <a:blip r:embed="rId3">
            <a:alphaModFix/>
          </a:blip>
          <a:srcRect b="0" l="0" r="0" t="0"/>
          <a:stretch/>
        </p:blipFill>
        <p:spPr>
          <a:xfrm>
            <a:off x="538681" y="366615"/>
            <a:ext cx="7744906" cy="1400370"/>
          </a:xfrm>
          <a:prstGeom prst="rect">
            <a:avLst/>
          </a:prstGeom>
          <a:noFill/>
          <a:ln>
            <a:noFill/>
          </a:ln>
        </p:spPr>
      </p:pic>
      <p:pic>
        <p:nvPicPr>
          <p:cNvPr id="223" name="Google Shape;223;p20"/>
          <p:cNvPicPr preferRelativeResize="0"/>
          <p:nvPr/>
        </p:nvPicPr>
        <p:blipFill rotWithShape="1">
          <a:blip r:embed="rId4">
            <a:alphaModFix/>
          </a:blip>
          <a:srcRect b="0" l="0" r="0" t="0"/>
          <a:stretch/>
        </p:blipFill>
        <p:spPr>
          <a:xfrm>
            <a:off x="373297" y="2415397"/>
            <a:ext cx="9564333" cy="118010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2025-07-03T14:38:26Z</dcterms:created>
  <dc:creator>Dell</dc:creator>
</cp:coreProperties>
</file>